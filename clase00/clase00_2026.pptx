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Programación</a:t>
            </a:r>
            <a:endParaRPr lang="en-US" sz="30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00: </a:t>
            </a:r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Daniela Opitz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daniela.opitz@usm.cl</a:t>
            </a:r>
            <a:endParaRPr lang="en-US" sz="1700" dirty="0"/>
          </a:p>
        </p:txBody>
      </p:sp>
      <p:pic>
        <p:nvPicPr>
          <p:cNvPr id="4" name="Image 0" descr="img/orig-001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926080"/>
            <a:ext cx="1737360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de Hoy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Presentaciones</a:t>
            </a:r>
            <a:endParaRPr lang="en-US" sz="1700" dirty="0"/>
          </a:p>
          <a:p>
            <a:pPr algn="l" marL="152400" indent="-1524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Horarios</a:t>
            </a:r>
            <a:endParaRPr lang="en-US" sz="1700" dirty="0"/>
          </a:p>
          <a:p>
            <a:pPr algn="l" marL="152400" indent="-1524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la asignatura</a:t>
            </a:r>
            <a:endParaRPr lang="en-US" sz="1700" dirty="0"/>
          </a:p>
          <a:p>
            <a:pPr algn="l" marL="152400" indent="-1524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Python</a:t>
            </a:r>
            <a:endParaRPr lang="en-US" sz="1700" dirty="0"/>
          </a:p>
          <a:p>
            <a:pPr algn="l" marL="152400" indent="-1524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Programa 'Holamundo'</a:t>
            </a:r>
            <a:endParaRPr lang="en-US" sz="1700" dirty="0"/>
          </a:p>
          <a:p>
            <a:pPr algn="l" marL="152400" indent="-1524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y preámbulo a operaciones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79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Daniela Opitz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Académica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Informática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Técnica Federico Santa María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PhD. Física UNSW Sydney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Astronomía UChile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1783080"/>
            <a:ext cx="3474720" cy="1234440"/>
          </a:xfrm>
          <a:prstGeom prst="rect">
            <a:avLst/>
          </a:prstGeom>
          <a:ln w="31750">
            <a:solidFill>
              <a:srgbClr val="F79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182880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daniela.opitz@usm.cl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Oficina: K-605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Informática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Presentaciones</a:t>
            </a:r>
            <a:endParaRPr lang="en-US" sz="2800" dirty="0"/>
          </a:p>
        </p:txBody>
      </p:sp>
      <p:pic>
        <p:nvPicPr>
          <p:cNvPr id="3" name="Image 0" descr="img/orig-004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868680"/>
            <a:ext cx="5669280" cy="3776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Programación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de nivel básico de programación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de programación: Python</a:t>
            </a:r>
            <a:endParaRPr lang="en-US" sz="1700" dirty="0"/>
          </a:p>
        </p:txBody>
      </p:sp>
      <p:pic>
        <p:nvPicPr>
          <p:cNvPr id="4" name="Image 0" descr="img/python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17320"/>
            <a:ext cx="2286000" cy="2606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Cátedra: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Lunes: 12:30 - 13:40 hrs</a:t>
            </a:r>
            <a:endParaRPr lang="en-US" sz="15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Miércoles: 12:30 - 13:40 hrs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de consultas:</a:t>
            </a:r>
            <a:endParaRPr lang="en-US" sz="15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Lunes: 14:40 - 15:50 hrs</a:t>
            </a:r>
            <a:endParaRPr lang="en-US" sz="15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Otras consultas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Escribir a daniela.opitz@usm.cl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(Evaluaciones: 5 tipos)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1381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286000"/>
                <a:gridCol w="2971800"/>
                <a:gridCol w="9144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¿Dónde se rinde?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¿Cómo?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nota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E4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Certámenes [C]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Sala de certamen (horario especial: 17:30 hrs)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papel, 2 horas, presencial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[CTL]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Laboratorio (en su paralelo)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AULA, al inicio de la sesión, ~10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Tareas [T]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Ayudantía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Entregas parciales + quiz o interrogación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Ev. formativas [EF]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(AULA)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Asincrónicas, antes de cada unidad, intentos ilimitados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Ej. autocorregidos [ECA]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(AULA)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Juez automático, durante cada unidad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463040" y="4297680"/>
            <a:ext cx="6217920" cy="548640"/>
          </a:xfrm>
          <a:prstGeom prst="rect">
            <a:avLst/>
          </a:prstGeom>
          <a:solidFill>
            <a:srgbClr val="FFF6CC"/>
          </a:solidFill>
          <a:ln w="19050">
            <a:solidFill>
              <a:srgbClr val="E0B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54480" y="4297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evaluaciones son estrictamente individuales.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(Estructura de la Asignatura)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curso está estructurado en </a:t>
            </a:r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unidades de aprendizaje: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2560320" cy="411480"/>
          </a:xfrm>
          <a:prstGeom prst="rect">
            <a:avLst/>
          </a:prstGeom>
          <a:solidFill>
            <a:srgbClr val="AEE4FB"/>
          </a:solidFill>
          <a:ln w="19050">
            <a:solidFill>
              <a:srgbClr val="1F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Certamen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2560320" cy="411480"/>
          </a:xfrm>
          <a:prstGeom prst="rect">
            <a:avLst/>
          </a:prstGeom>
          <a:solidFill>
            <a:srgbClr val="CDEECD"/>
          </a:solidFill>
          <a:ln w="19050">
            <a:solidFill>
              <a:srgbClr val="008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Certamen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1920240"/>
            <a:ext cx="2560320" cy="438912"/>
          </a:xfrm>
          <a:prstGeom prst="rect">
            <a:avLst/>
          </a:prstGeom>
          <a:solidFill>
            <a:srgbClr val="F2F8FD"/>
          </a:solidFill>
          <a:ln w="12700">
            <a:solidFill>
              <a:srgbClr val="1F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92024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Programas secuenciales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828800" y="2487168"/>
            <a:ext cx="2560320" cy="438912"/>
          </a:xfrm>
          <a:prstGeom prst="rect">
            <a:avLst/>
          </a:prstGeom>
          <a:solidFill>
            <a:srgbClr val="F2F8FD"/>
          </a:solidFill>
          <a:ln w="12700">
            <a:solidFill>
              <a:srgbClr val="1F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24871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Decisiones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828800" y="3054096"/>
            <a:ext cx="2560320" cy="438912"/>
          </a:xfrm>
          <a:prstGeom prst="rect">
            <a:avLst/>
          </a:prstGeom>
          <a:solidFill>
            <a:srgbClr val="F2F8FD"/>
          </a:solidFill>
          <a:ln w="12700">
            <a:solidFill>
              <a:srgbClr val="1F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38528" y="305409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Ciclos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828800" y="3621024"/>
            <a:ext cx="2560320" cy="438912"/>
          </a:xfrm>
          <a:prstGeom prst="rect">
            <a:avLst/>
          </a:prstGeom>
          <a:solidFill>
            <a:srgbClr val="F2F8FD"/>
          </a:solidFill>
          <a:ln w="12700">
            <a:solidFill>
              <a:srgbClr val="1F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362102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Strings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828800" y="4187952"/>
            <a:ext cx="2560320" cy="438912"/>
          </a:xfrm>
          <a:prstGeom prst="rect">
            <a:avLst/>
          </a:prstGeom>
          <a:solidFill>
            <a:srgbClr val="F2F8FD"/>
          </a:solidFill>
          <a:ln w="12700">
            <a:solidFill>
              <a:srgbClr val="1F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38528" y="418795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Funciones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1920240"/>
            <a:ext cx="2560320" cy="438912"/>
          </a:xfrm>
          <a:prstGeom prst="rect">
            <a:avLst/>
          </a:prstGeom>
          <a:solidFill>
            <a:srgbClr val="F3FBF3"/>
          </a:solidFill>
          <a:ln w="12700">
            <a:solidFill>
              <a:srgbClr val="008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92024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Listas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46320" y="2487168"/>
            <a:ext cx="2560320" cy="438912"/>
          </a:xfrm>
          <a:prstGeom prst="rect">
            <a:avLst/>
          </a:prstGeom>
          <a:solidFill>
            <a:srgbClr val="F3FBF3"/>
          </a:solidFill>
          <a:ln w="12700">
            <a:solidFill>
              <a:srgbClr val="008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4871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Diccionarios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3054096"/>
            <a:ext cx="2560320" cy="438912"/>
          </a:xfrm>
          <a:prstGeom prst="rect">
            <a:avLst/>
          </a:prstGeom>
          <a:solidFill>
            <a:srgbClr val="F3FBF3"/>
          </a:solidFill>
          <a:ln w="12700">
            <a:solidFill>
              <a:srgbClr val="008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305409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Texto y archivos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(Desarrollo de una Unidad)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7981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previo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9768" y="196596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y materiales publicados el jueves en AULA. Evaluación formativa.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0280" y="12344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97480" y="1234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7981D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234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Cátedra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24328" y="196596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Explicación de conceptos, ejemplos y resolución de dudas.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34840" y="12344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92040" y="1234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7981D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34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18888" y="196596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práctico y control de la unidad.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12344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086600" y="1234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7981D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234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Ayudantía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13448" y="1965960"/>
            <a:ext cx="1929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y entrega de tarea, quiz o interrogación.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463040" y="3520440"/>
            <a:ext cx="6217920" cy="685800"/>
          </a:xfrm>
          <a:prstGeom prst="rect">
            <a:avLst/>
          </a:prstGeom>
          <a:solidFill>
            <a:srgbClr val="D9D9D9"/>
          </a:solidFill>
          <a:ln w="1905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35204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semestre: 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certámenes presenciales en papel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(Ponderaciones)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148840" y="868680"/>
            <a:ext cx="4846320" cy="1417320"/>
          </a:xfrm>
          <a:prstGeom prst="rect">
            <a:avLst/>
          </a:prstGeom>
          <a:solidFill>
            <a:srgbClr val="EFEFEF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914400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   =  Certámenes en papel (50%)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CTL =  Controles en laboratorio (20%)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    =  Tareas en ayudantía (20%)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  =  Evaluaciones formativas (5%)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 =  Ejercicios de corrección automática (5%)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606040"/>
            <a:ext cx="7132320" cy="1554480"/>
          </a:xfrm>
          <a:prstGeom prst="rect">
            <a:avLst/>
          </a:prstGeom>
          <a:solidFill>
            <a:srgbClr val="AEE4FB"/>
          </a:solidFill>
          <a:ln w="31750">
            <a:solidFill>
              <a:srgbClr val="1F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69748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ponderado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C×0.50 + CTL×0.20 + T×0.20 + EF×0.05 + ECA×0.05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es el promedio aritmético de las evaluaciones de ese tipo.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(Nota Final)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05840" y="914400"/>
            <a:ext cx="7132320" cy="3291840"/>
          </a:xfrm>
          <a:prstGeom prst="rect">
            <a:avLst/>
          </a:prstGeom>
          <a:solidFill>
            <a:srgbClr val="AEE4FB"/>
          </a:solidFill>
          <a:ln w="31750">
            <a:solidFill>
              <a:srgbClr val="1F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1051560"/>
            <a:ext cx="66751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aprobar la asignatura, el promedio de certámenes (C) debe ser al menos 55.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≥ 55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Nota Final = 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no: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Final</a:t>
            </a:r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mín(C, 54)   (queda limitada por el promedio de certámenes)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 todas las asignaturas, para aprobar se debe tener Nota Final ≥ 55.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(Certámenes)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curso contempla dos certámenes y un certamen recuperativo. Todos se realizan en papel, comienzan a las 17:30 horas y tienen una duración de dos horas.</a:t>
            </a:r>
            <a:endParaRPr lang="en-US" sz="15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Certamen 1: </a:t>
            </a:r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 8 de octubre</a:t>
            </a:r>
            <a:endParaRPr lang="en-US" sz="15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Certamen 2: </a:t>
            </a:r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 19 de noviembre</a:t>
            </a:r>
            <a:endParaRPr lang="en-US" sz="1500" dirty="0"/>
          </a:p>
          <a:p>
            <a:pPr algn="l" marL="152400" indent="-152400"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Certamen Recuperativo: </a:t>
            </a:r>
            <a:pPr algn="l" marL="152400" indent="-1524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 3 de diciembre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certamen recuperativo lo puede rendir 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estudiante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pero se debe tener en cuenta que 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</a:t>
            </a:r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reemplazará la menor nota entre el C1 y el C2, aunque esto implique rebajar la nota.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certamen recuperativo puede reemplazar sólo una nota.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(Controles)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realiza </a:t>
            </a:r>
            <a:pPr algn="l" indent="0" marL="0">
              <a:spcAft>
                <a:spcPts val="18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control por cada unidad</a:t>
            </a:r>
            <a:pPr algn="l"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curso. Buscan verificar que se han adquirido los conocimientos básicos necesarios para abordar las actividades prácticas de la unidad.</a:t>
            </a:r>
            <a:endParaRPr lang="en-US" sz="15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realizan generalmente en 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al inicio de la sesión de laboratorio.</a:t>
            </a:r>
            <a:endParaRPr lang="en-US" sz="15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una duración aproximada de 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Deben rendirse 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presencialmente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 ausencia implica 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0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control de ese día.</a:t>
            </a:r>
            <a:endParaRPr lang="en-US" sz="1500" dirty="0"/>
          </a:p>
          <a:p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pueden rendirse en el </a:t>
            </a:r>
            <a:pPr algn="l" marL="152400" indent="-1524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 de laboratorio</a:t>
            </a:r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el que el o la estudiante está inscrito(a).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(Evaluaciones Formativas)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 con los videos, se habilitan cuestionarios en AULA antes del inicio de cada unidad.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Buscan verificar que se comprendieron los contenidos de los videos y demás materiales de estudio.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responden de forma 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asincrónica y remota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intentos ilimitados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dentro del plazo establecido.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obtener el puntaje máximo, 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respuestas deben ser correctas.</a:t>
            </a:r>
            <a:endParaRPr lang="en-US" sz="1500" dirty="0"/>
          </a:p>
          <a:p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Generalmente disponibles desde el </a:t>
            </a:r>
            <a:pPr algn="l" marL="152400" indent="-1524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jueves</a:t>
            </a:r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previo al inicio de la unidad hasta el </a:t>
            </a:r>
            <a:pPr algn="l" marL="152400" indent="-1524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domingo a las 23:55 horas</a:t>
            </a:r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(Ejercicios Autocorregidos)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unidad se habilitará en AULA un conjunto de ejercicios de programación.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soluciones serán evaluadas mediante un 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juez automático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verificará su corrección en base a casos de prueba, algunos de los cuales son secretos.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ejercicios tendrán 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distintos niveles de dificultad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obtener el puntaje total, se debe resolver correctamente 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un ejercicio en cada unidad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recomienda resolver </a:t>
            </a:r>
            <a:pPr algn="l" marL="152400" indent="-1524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 cantidad posible</a:t>
            </a:r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permite practicar más y enfrentar problemas de dificultad creciente.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(Tareas)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desarrollan 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tareas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cada una asociada a una o más unidades del curso.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realizan 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exclusivamente</a:t>
            </a:r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durante las sesiones de ayudantía.</a:t>
            </a:r>
            <a:endParaRPr lang="en-US" sz="1500" dirty="0"/>
          </a:p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Excepción en la primera tarea, que tiene una primera parte asincrónica.</a:t>
            </a:r>
            <a:endParaRPr lang="en-US" sz="1500" dirty="0"/>
          </a:p>
          <a:p>
            <a:pPr algn="l" marL="152400" indent="-152400">
              <a:spcAft>
                <a:spcPts val="2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planificación de las tareas está disponible en la programación publicada en AULA.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problemas de programación de mayor complejidad, integrando progresivamente los contenidos estudiados en las distintas unidades del curso.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(Tareas: Estructura)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tarea puede estar compuesta por varias etapas, dependiendo de sus objetivos:</a:t>
            </a:r>
            <a:endParaRPr lang="en-US" sz="15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conceptual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centrada en la comprensión del problema y el diseño preliminar de la solución.</a:t>
            </a:r>
            <a:endParaRPr lang="en-US" sz="15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parciales</a:t>
            </a:r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donde se implementan distintas partes de la solución. Cada entrega se construye sobre la anterior.</a:t>
            </a:r>
            <a:endParaRPr lang="en-US" sz="1500" dirty="0"/>
          </a:p>
          <a:p>
            <a:pPr algn="l" marL="152400" indent="-152400"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o interrogación oral</a:t>
            </a:r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finalizar la tarea, para verificar la comprensión de la solución desarrollada.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" y="3703320"/>
            <a:ext cx="7132320" cy="868680"/>
          </a:xfrm>
          <a:prstGeom prst="rect">
            <a:avLst/>
          </a:prstGeom>
          <a:solidFill>
            <a:srgbClr val="FFF6CC"/>
          </a:solidFill>
          <a:ln w="19050">
            <a:solidFill>
              <a:srgbClr val="E0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37490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actividades de la tarea deben realizarse en la sesión correspondiente. La ausencia implica </a:t>
            </a:r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0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parte que debía desarrollarse ese día.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del Proceso de Evaluación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evaluaciones de la asignatura son </a:t>
            </a:r>
            <a:pPr algn="l" indent="0" marL="0">
              <a:spcAft>
                <a:spcPts val="1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estrictamente individuales</a:t>
            </a:r>
            <a:pPr algn="l"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Las soluciones deben ser de autoría absoluta del o de la estudiante.</a:t>
            </a:r>
            <a:endParaRPr lang="en-US" sz="15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trabajar en equipo para construir soluciones.</a:t>
            </a:r>
            <a:endParaRPr lang="en-US" sz="15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pedir a terceros que escriban código.</a:t>
            </a:r>
            <a:endParaRPr lang="en-US" sz="1500" dirty="0"/>
          </a:p>
          <a:p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obtener código de fuentes externas.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" y="3657600"/>
            <a:ext cx="7132320" cy="914400"/>
          </a:xfrm>
          <a:prstGeom prst="rect">
            <a:avLst/>
          </a:prstGeom>
          <a:solidFill>
            <a:srgbClr val="FFF6CC"/>
          </a:solidFill>
          <a:ln w="19050">
            <a:solidFill>
              <a:srgbClr val="E0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37033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compartida: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constituye falta facilitar soluciones a otros estudiantes. Es responsable quien comete la falta y quien ayuda a cometerla.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IA Generativa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Dada la naturaleza y objetivos de esta asignatura, está </a:t>
            </a:r>
            <a:pPr algn="l" indent="0" marL="0">
              <a:spcAft>
                <a:spcPts val="2200"/>
              </a:spcAft>
              <a:buNone/>
            </a:pPr>
            <a:r>
              <a:rPr lang="en-US" sz="1500" b="1" dirty="0">
                <a:solidFill>
                  <a:srgbClr val="FF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estrictamente prohibido</a:t>
            </a:r>
            <a:pPr algn="l" indent="0" marL="0">
              <a:spcAft>
                <a:spcPts val="2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utilizar herramientas de Inteligencia Artificial Generativa para construir soluciones de tareas, controles o certámenes.</a:t>
            </a:r>
            <a:endParaRPr lang="en-US" sz="1500" dirty="0"/>
          </a:p>
          <a:p>
            <a:pPr algn="l" indent="0" marL="0">
              <a:spcAft>
                <a:spcPts val="2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del curso es que cada estudiante desarrolle sus propias habilidades de programación: usar IA para producir soluciones reemplaza el proceso de aprendizaje y representa un camino más corto para hacer trampa, entregando soluciones que no son de la autoría del o de la estudiante.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soluciones generadas o asistidas por IA se considerarán una </a:t>
            </a:r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grave (fraude)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Sanciones Específicas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0 en la tarea completa.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a la jefatura de carrera correspondiente.</a:t>
            </a:r>
            <a:endParaRPr lang="en-US" sz="1400" dirty="0"/>
          </a:p>
          <a:p>
            <a:pPr algn="l" marL="1524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según los procedimientos institucionales.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Certámenes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deriva el caso a la Comisión Universitaria correspondiente, según lo que establece el Reglamento de Deberes, Derechos y Disciplina del Estudiantado.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Pedir Ayuda Correctamente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una IA o a otra persona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corresponde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Preguntar por conceptos.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errores y explicar qué intentaste.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orientación sobre cómo depurar.</a:t>
            </a:r>
            <a:endParaRPr lang="en-US" sz="1400" dirty="0"/>
          </a:p>
          <a:p>
            <a:pPr algn="l" marL="1524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Discutir ideas generales.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corresponde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Pedir o entregar soluciones completas.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código de otra persona.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Reutilizar código externo sin autorización.</a:t>
            </a:r>
            <a:endParaRPr lang="en-US" sz="1400" dirty="0"/>
          </a:p>
          <a:p>
            <a:pPr algn="l" marL="1524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IA para generar la solución evaluada.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¿Con Quién Puedo Contar?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docente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Profesor(a) de cátedra: </a:t>
            </a:r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del desarrollo de la asignatura.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Profesor(a) de laboratorio: </a:t>
            </a:r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el trabajo práctico y atiende consultas.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Ayudante: </a:t>
            </a:r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la resolución de las tareas y responde preguntas.</a:t>
            </a:r>
            <a:endParaRPr lang="en-US" sz="1300" dirty="0"/>
          </a:p>
          <a:p>
            <a:pPr algn="l" marL="152400" indent="-1524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de la asignatura: </a:t>
            </a:r>
            <a:pPr algn="l" marL="152400" indent="-1524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situaciones excepcionales y lo que el equipo docente no consiga resolver.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960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de apoyo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Horarios de atención: </a:t>
            </a:r>
            <a:pPr algn="l"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asistir al horario de atención de cualquier profesor(a) del curso, de forma presencial o virtual.</a:t>
            </a:r>
            <a:endParaRPr lang="en-US" sz="1300" dirty="0"/>
          </a:p>
          <a:p>
            <a:pPr algn="l" marL="152400" indent="-1524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Foro de consultas en AULA: </a:t>
            </a:r>
            <a:pPr algn="l" marL="152400" indent="-1524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oficial para preguntas sobre los contenidos y las actividades del curso. Antes de publicar, revisa si ya fue respondida.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esperes hasta el último momento para pedir ayuda. Si tienes dudas, ¡consúltanos oportunamente!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Reglas Clave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evaluaciones combinan certámenes, controles, tareas, cuestionarios de evaluación formativa y ejercicios autocorregidos.</a:t>
            </a:r>
            <a:endParaRPr lang="en-US" sz="1500" dirty="0"/>
          </a:p>
          <a:p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aprobar, el promedio de certámenes debe ser al menos 55.</a:t>
            </a:r>
            <a:endParaRPr lang="en-US" sz="1500" dirty="0"/>
          </a:p>
          <a:p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tareas combinan diversos elementos y se construyen incrementalmente en las ayudantías.</a:t>
            </a:r>
            <a:endParaRPr lang="en-US" sz="1500" dirty="0"/>
          </a:p>
          <a:p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evaluación es individual.</a:t>
            </a:r>
            <a:endParaRPr lang="en-US" sz="1500" dirty="0"/>
          </a:p>
          <a:p>
            <a:pPr algn="l" marL="152400" indent="-1524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uso de IA generativa para producir soluciones evaluadas está prohibido.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unidades: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1.  Programas secuenciales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2.  Flujo condicional (decisiones)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3.  Flujo iterativo (ciclos)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4.  String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5.  Funciones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CERTAMEN 1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6.  Listas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7.  Diccionarios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8.  Procesamiento de texto y archivos</a:t>
            </a:r>
            <a:endParaRPr lang="en-US" sz="16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CERTAMEN 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 la programación?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instrucciones (finitas) que deben seguirse por orden para ejecutar una tarea.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receta de cocina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algoritmo para girar dinero en cajero automático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algoritmo de reconocimiento facial</a:t>
            </a:r>
            <a:endParaRPr lang="en-US" sz="1600" dirty="0"/>
          </a:p>
        </p:txBody>
      </p:sp>
      <p:pic>
        <p:nvPicPr>
          <p:cNvPr id="4" name="Image 0" descr="img/orig-016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560320"/>
            <a:ext cx="2834640" cy="17007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</a:t>
            </a:r>
            <a:endParaRPr lang="en-US" sz="2800" dirty="0"/>
          </a:p>
        </p:txBody>
      </p:sp>
      <p:pic>
        <p:nvPicPr>
          <p:cNvPr id="3" name="Image 0" descr="img/orig-017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914400"/>
            <a:ext cx="5943600" cy="3840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Lenguajes de Programación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formal creado para darle instrucciones a un computador.</a:t>
            </a:r>
            <a:endParaRPr lang="en-US" sz="1700" dirty="0"/>
          </a:p>
        </p:txBody>
      </p:sp>
      <p:pic>
        <p:nvPicPr>
          <p:cNvPr id="4" name="Image 0" descr="img/orig-018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600200"/>
            <a:ext cx="3840480" cy="29992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800" dirty="0"/>
          </a:p>
        </p:txBody>
      </p:sp>
      <p:pic>
        <p:nvPicPr>
          <p:cNvPr id="3" name="Image 0" descr="/Users/daniela/Documents/usm/cursos/prograusm/clase00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51560"/>
            <a:ext cx="6766560" cy="297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https://www.python.org/downloads/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Hola mundo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828800"/>
            <a:ext cx="2697480" cy="86868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holamundo.py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'¡Hola mundo!'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pic>
        <p:nvPicPr>
          <p:cNvPr id="5" name="Image 0" descr="img/holamundo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868680"/>
            <a:ext cx="4892040" cy="40965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variable?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 que permite almacenar datos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2377440" cy="96012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43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37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'Edad'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edad)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entendemos por memoria?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electrónico que permite almacenar datos durante un intervalo de tiempo</a:t>
            </a:r>
            <a:endParaRPr lang="en-US" sz="1500" dirty="0"/>
          </a:p>
        </p:txBody>
      </p:sp>
      <p:pic>
        <p:nvPicPr>
          <p:cNvPr id="5" name="Image 0" descr="img/orig-022-0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2377440"/>
            <a:ext cx="2377440" cy="1417320"/>
          </a:xfrm>
          <a:prstGeom prst="rect">
            <a:avLst/>
          </a:prstGeom>
        </p:spPr>
      </p:pic>
      <p:pic>
        <p:nvPicPr>
          <p:cNvPr id="6" name="Image 1" descr="img/orig-022-02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2377440"/>
            <a:ext cx="2377440" cy="1417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0" y="4206240"/>
            <a:ext cx="5029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5603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063240" y="4206240"/>
            <a:ext cx="5029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63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566160" y="4206240"/>
            <a:ext cx="5029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661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069080" y="4206240"/>
            <a:ext cx="5029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69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074920" y="4206240"/>
            <a:ext cx="5029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749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577840" y="4206240"/>
            <a:ext cx="5029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5778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080760" y="4206240"/>
            <a:ext cx="5029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807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representa números 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enteros (ej. 3)</a:t>
            </a:r>
            <a:endParaRPr lang="en-US" sz="1500" dirty="0"/>
          </a:p>
          <a:p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representa números 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reales (ej. 3.27)</a:t>
            </a:r>
            <a:endParaRPr lang="en-US" sz="1500" dirty="0"/>
          </a:p>
          <a:p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representa valores 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008F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FF2D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  <a:p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representa valores 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 </a:t>
            </a:r>
            <a:pPr algn="l" marL="152400" indent="-1524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(texto)</a:t>
            </a:r>
            <a:endParaRPr lang="en-US" sz="1500" dirty="0"/>
          </a:p>
          <a:p>
            <a:pPr algn="l" marL="152400" indent="-152400">
              <a:spcAft>
                <a:spcPts val="2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NoneType</a:t>
            </a:r>
            <a:pPr algn="l" marL="152400" indent="-152400">
              <a:spcAft>
                <a:spcPts val="2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representa el valor </a:t>
            </a:r>
            <a:pPr algn="l" marL="152400" indent="-152400">
              <a:spcAft>
                <a:spcPts val="22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usar </a:t>
            </a:r>
            <a:pPr algn="l" indent="0" marL="0">
              <a:buNone/>
            </a:pPr>
            <a:r>
              <a:rPr lang="en-US" sz="1500" b="1" dirty="0">
                <a:solidFill>
                  <a:srgbClr val="04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ver el tipo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respira entre 12 y 20 veces por minuto. ¿Si actualmente son las 12 del día, cuántas veces he respirado hoy?</a:t>
            </a:r>
            <a:endParaRPr lang="en-US" sz="1600" dirty="0"/>
          </a:p>
        </p:txBody>
      </p:sp>
      <p:pic>
        <p:nvPicPr>
          <p:cNvPr id="4" name="Image 0" descr="img/orig-024-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783080"/>
            <a:ext cx="3566160" cy="2852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que le puedo dar a una variable o a una función</a:t>
            </a:r>
            <a:endParaRPr lang="en-US" sz="1400" dirty="0"/>
          </a:p>
          <a:p>
            <a:pPr algn="l"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Deben comenzar con una letra o con un guión bajo</a:t>
            </a:r>
            <a:endParaRPr lang="en-US" sz="14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Pueden contener dígitos y guión bajo</a:t>
            </a:r>
            <a:endParaRPr lang="en-US" sz="1400" dirty="0"/>
          </a:p>
          <a:p>
            <a:pPr algn="l" lvl="1" marL="3048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x, nombre_apellido, y55, _holahola</a:t>
            </a:r>
            <a:endParaRPr lang="en-US" sz="14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no pueden comenzar con números o contener caracteres de operación:</a:t>
            </a:r>
            <a:endParaRPr lang="en-US" sz="1400" dirty="0"/>
          </a:p>
          <a:p>
            <a:pPr algn="l" lvl="1" marL="3048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 1x, -55, 33mineros, micro$oft</a:t>
            </a:r>
            <a:endParaRPr lang="en-US" sz="14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Tampoco pueden ser </a:t>
            </a:r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palabras reservadas</a:t>
            </a:r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400" dirty="0"/>
          </a:p>
          <a:p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</a:t>
            </a:r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4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4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4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4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lvl="1" marL="304800" indent="-1524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Identificadores (Palabras Reservadas)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05840"/>
          <a:ext cx="6400800" cy="35661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finally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lambda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nonlocal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while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global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elif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yield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assert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break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except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¡Deben ser informativos!</a:t>
            </a:r>
            <a:endParaRPr lang="en-US" sz="1600" dirty="0"/>
          </a:p>
          <a:p>
            <a:pPr algn="l" lvl="1" marL="3048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Siglas son confusas: </a:t>
            </a:r>
            <a:pPr algn="l" lvl="1" marL="3048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4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LAX, CCP, myvar</a:t>
            </a:r>
            <a:endParaRPr lang="en-US" sz="1600" dirty="0"/>
          </a:p>
          <a:p>
            <a:pPr algn="l" lvl="1" marL="3048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4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Evitar</a:t>
            </a:r>
            <a:pPr algn="l" lvl="1" marL="3048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uso de nombres largos: </a:t>
            </a:r>
            <a:pPr algn="l" lvl="1" marL="3048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43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mi_variable_de_tipo_string</a:t>
            </a:r>
            <a:endParaRPr lang="en-US" sz="1600" dirty="0"/>
          </a:p>
          <a:p>
            <a:pPr algn="l" lvl="1" marL="304800" indent="-1524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Recuerde que su código será leído por otra persona… incluido su "futuro yo"</a:t>
            </a:r>
            <a:endParaRPr lang="en-US" sz="1600" dirty="0"/>
          </a:p>
          <a:p>
            <a:pPr algn="l" marL="152400" indent="-1524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Buenos ejemplos:</a:t>
            </a:r>
            <a:endParaRPr lang="en-US" sz="16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8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edad, suma_parcial, temperatura, process_type, current_time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280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2026-08-03T15:33:30Z</dcterms:created>
  <dcterms:modified xsi:type="dcterms:W3CDTF">2026-08-03T15:33:30Z</dcterms:modified>
</cp:coreProperties>
</file>